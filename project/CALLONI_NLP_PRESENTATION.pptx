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  <p:embeddedFont>
      <p:font typeface="Merriweather Black" panose="00000A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84969"/>
            <a:ext cx="5500687" cy="132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Simplifying the Fine Print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48855"/>
            <a:ext cx="5500687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48600"/>
                </a:solidFill>
                <a:latin typeface="Inter"/>
                <a:ea typeface="Inter"/>
                <a:cs typeface="Inter"/>
                <a:sym typeface="Inter"/>
              </a:rPr>
              <a:t>Balancing Readability and Information Preservation in Legal NLP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55566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Comparative Analysis: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Gemini API vs. Local Llama 3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3817441"/>
            <a:ext cx="52387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02166" y="5267747"/>
            <a:ext cx="52387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Author: </a:t>
            </a:r>
            <a:r>
              <a:rPr lang="en-US" sz="1350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Calloni Matteo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859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57250" y="2208907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Accessibility Gap: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Terms of Service and Privacy Policies are fundamentally too complex for the average consumer to comprehend.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222277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Research Question 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Can Large Language Models (LLMs) simplify legal texts to an 8th-grade reading level without "hallucinating" or losing the original legal meaning?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235648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Research Question 2: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How do proprietary cloud models (e.g., Gemini) compare to local, quantized open-source models (e.g., Llama 3) in terms of system robustness?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9543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with Jargon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2795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132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54698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571500" y="3938587"/>
            <a:ext cx="11049000" cy="571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10733" y="4348162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729162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Sourcing "Unfair Terms of Service" texts directly from the standardized LexGLUE Dataset.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383413" y="21478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Prompting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444180" y="2528887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Executing an identical system prompt across both models to isolate architecture as the independent variable.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56094" y="4348162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16860" y="4729162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Testing Gemini 1.5 Flash (Cloud API) versus Meta Llama 3 8B (Local 4-bit Quantization).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28774" y="2376487"/>
            <a:ext cx="25521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89541" y="2757487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Measuring performance using Flesch-Kincaid (Readability) and BERTScore (Semantic Fidelity).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Pipeline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653480" y="38338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B48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526160" y="38338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398841" y="38338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B48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0271521" y="38338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8132" y="5171033"/>
            <a:ext cx="9622367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53591"/>
            <a:ext cx="5334000" cy="353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353591"/>
            <a:ext cx="5334000" cy="35316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5409158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Takeaway: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62025" y="1744116"/>
            <a:ext cx="478059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Google Gemini (Cloud)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77025" y="1744116"/>
            <a:ext cx="478059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Llama 3 8B (Local)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177269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247775" y="2277516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Consistently failed to process the entire dataset, returning recurring ERROR_GENERATION flags.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47775" y="301659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Severely hampered by strict free-tier rate limits, causing artificial pipeline delays.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247775" y="375567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Experienced significant network latency variations during bulk document processing.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177269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962775" y="2277516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a flawless </a:t>
            </a: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100% Success Rate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across all evaluated text samples.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962775" y="301659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Advanced 4-bit quantization allowed for seamless, low-memory execution.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962775" y="375567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deployed completely offline on Google Colab's free T4 GPU tier.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Robustness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229656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303564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377472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229656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303564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377472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8844"/>
            <a:ext cx="5286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6144"/>
            <a:ext cx="5286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59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09624" y="1908869"/>
            <a:ext cx="14509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0.862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2381250" y="1978521"/>
            <a:ext cx="20002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Mean BERTScore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(High Semantic Fidelity)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09625" y="3166169"/>
            <a:ext cx="15144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&lt;0.05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2562225" y="3235821"/>
            <a:ext cx="16002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T-test p-value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(Highly Significant)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57250" y="4271069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Llama 3 successfully pushed complex texts into positive reading improvement territory (Delta FKGL).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57250" y="501015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model maintained original legal constraints and thematic alignment without degrading the core message.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Evaluation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9011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292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 descr="The diagram shows a comparison between readability improvement and semantic fidelity, with Gemini and Llama as examples, indicating a trade-off between making text easier to read and maintaining its original meaning.&#10;&#10;Il contenuto generato dall'IA potrebbe non essere corretto.">
            <a:extLst>
              <a:ext uri="{FF2B5EF4-FFF2-40B4-BE49-F238E27FC236}">
                <a16:creationId xmlns:a16="http://schemas.microsoft.com/office/drawing/2014/main" id="{8F4CEDF9-2509-A29A-1250-CE3C75738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0"/>
            <a:ext cx="5838825" cy="348322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E4AF77B-B2AB-E622-B910-A6C6F20232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3607051"/>
            <a:ext cx="5838826" cy="3197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00352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24123"/>
            <a:ext cx="5334000" cy="359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324123"/>
            <a:ext cx="5334000" cy="359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866775" y="5438477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Observation: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3081263"/>
            <a:ext cx="531495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962025" y="1714648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Original (Complex)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962025" y="2152798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409973"/>
            <a:ext cx="4552950" cy="132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6296025" y="3081263"/>
            <a:ext cx="5314950" cy="76200"/>
          </a:xfrm>
          <a:prstGeom prst="roundRect">
            <a:avLst>
              <a:gd name="adj" fmla="val 50000"/>
            </a:avLst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677025" y="1714648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Llama 3 (Simplified)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677025" y="2152798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2409973"/>
            <a:ext cx="4552950" cy="194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Qualitative Inspection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1143000"/>
            <a:ext cx="1104900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571500"/>
            <a:ext cx="55006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 dirty="0"/>
          </a:p>
        </p:txBody>
      </p:sp>
      <p:sp>
        <p:nvSpPr>
          <p:cNvPr id="197" name="Google Shape;197;p19"/>
          <p:cNvSpPr/>
          <p:nvPr/>
        </p:nvSpPr>
        <p:spPr>
          <a:xfrm>
            <a:off x="571500" y="1143000"/>
            <a:ext cx="5238750" cy="28575"/>
          </a:xfrm>
          <a:prstGeom prst="rect">
            <a:avLst/>
          </a:prstGeom>
          <a:solidFill>
            <a:srgbClr val="B48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124211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860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3908970"/>
            <a:ext cx="52387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857250" y="1775519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Open-source LLMs running on consumer hardware are highly capable and significantly more robust than free-tier APIs.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857250" y="278889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They successfully balance plain English readability with high semantic preservation.</a:t>
            </a:r>
            <a:endParaRPr dirty="0"/>
          </a:p>
        </p:txBody>
      </p:sp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9456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0794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373</Words>
  <Application>Microsoft Office PowerPoint</Application>
  <PresentationFormat>Widescreen</PresentationFormat>
  <Paragraphs>42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4" baseType="lpstr">
      <vt:lpstr>Calibri</vt:lpstr>
      <vt:lpstr>Inter SemiBold</vt:lpstr>
      <vt:lpstr>Merriweather</vt:lpstr>
      <vt:lpstr>Merriweather Black</vt:lpstr>
      <vt:lpstr>Inter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Matteo Calloni</cp:lastModifiedBy>
  <cp:revision>3</cp:revision>
  <dcterms:modified xsi:type="dcterms:W3CDTF">2026-04-07T16:05:48Z</dcterms:modified>
</cp:coreProperties>
</file>